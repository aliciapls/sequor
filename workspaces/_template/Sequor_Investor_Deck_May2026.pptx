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914400" cy="9144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8132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475D"/>
                </a:solidFill>
                <a:latin typeface="Calibri"/>
              </a:rPr>
              <a:t>Sequor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EB0"/>
                </a:solidFill>
                <a:latin typeface="Calibri"/>
              </a:rPr>
              <a:t>Pte. Ltd.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5029200" cy="1270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475D"/>
                </a:solidFill>
                <a:latin typeface="Calibri"/>
              </a:rPr>
              <a:t>Investor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E6E"/>
                </a:solidFill>
                <a:latin typeface="Calibri"/>
              </a:rPr>
              <a:t>Southeast Asian SMBs deserve an AI coverage layer
that works while they're busy — not just reminds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EB0"/>
                </a:solidFill>
                <a:latin typeface="Calibri"/>
              </a:rPr>
              <a:t>May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097280"/>
            <a:ext cx="3200400" cy="3200400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1371600"/>
            <a:ext cx="2651760" cy="265176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645920"/>
            <a:ext cx="26517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75A73"/>
                </a:solidFill>
                <a:latin typeface="Calibri"/>
              </a:rPr>
              <a:t>AI Coverage
for Business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5A73"/>
                </a:solidFill>
                <a:latin typeface="Calibri"/>
              </a:rPr>
              <a:t>Southeast Asian SMB teams lose 12–18 hours/week to coverage gaps — unanswered messages, manual routing, and follow-up that the AI should handle.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73152" cy="77724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No coverage when 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1460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Customers message anytime. But your team works 9–6. There's nothing between 'message received' and 'human available.'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36392"/>
            <a:ext cx="73152" cy="77724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13639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Every query hits a human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502152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Routine questions — pricing, availability, policy — consume your team's most expensive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73152" cy="77724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23944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Tool silos everywhere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89704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Email in one place, WhatsApp in another, tasks in a third. No unified view of what's resolved.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11496"/>
            <a:ext cx="73152" cy="77724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11496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AI tools need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477256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Existing AI tools require your team to learn new workflows. Sequor is invisible to employees — they just reply to escalations.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4475D"/>
                </a:solidFill>
                <a:latin typeface="Calibri"/>
              </a:rPr>
              <a:t>Sequor is the AI coverage layer for customer communication.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E6E"/>
                </a:solidFill>
                <a:latin typeface="Calibri"/>
              </a:rPr>
              <a:t>An always-on layer between your team and your customers — handles routine queries, escalates what it can't, learns from every resolution.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04288"/>
            <a:ext cx="11064240" cy="1270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265176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5A73"/>
                </a:solidFill>
                <a:latin typeface="Calibri"/>
              </a:rPr>
              <a:t>Reads Everything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WhatsApp + Email in one unified thread. No switching tabs.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468880"/>
            <a:ext cx="265176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651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5A73"/>
                </a:solidFill>
                <a:latin typeface="Calibri"/>
              </a:rPr>
              <a:t>Resolves Routine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906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RAG-powered answers from your documents. No human for routine queries.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468880"/>
            <a:ext cx="265176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5A73"/>
                </a:solidFill>
                <a:latin typeface="Calibri"/>
              </a:rPr>
              <a:t>Escalates Smart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906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What it can't answer, routed with full context. PII redacted.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468880"/>
            <a:ext cx="265176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651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5A73"/>
                </a:solidFill>
                <a:latin typeface="Calibri"/>
              </a:rPr>
              <a:t>Learns &amp; Improves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0906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Every human correction feeds back. Gets smarter with every interaction.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50468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75A73"/>
                </a:solidFill>
                <a:latin typeface="Calibri"/>
              </a:rPr>
              <a:t>Sequor becomes your team's institutional memory — covering when you're away, remembering what was said, routing what needs humans.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Product: The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4475D"/>
                </a:solidFill>
                <a:latin typeface="Calibri"/>
              </a:rPr>
              <a:t>One view. Everything covered.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56232"/>
            <a:ext cx="54864" cy="34747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Unified WhatsApp + Email inbox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9152"/>
            <a:ext cx="54864" cy="34747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86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AI draft responses — one-tap send or 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62072"/>
            <a:ext cx="54864" cy="34747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88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Escalation queue with full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64992"/>
            <a:ext cx="54864" cy="34747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PDPA-compliant audit trail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67912"/>
            <a:ext cx="54864" cy="34747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94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SLA timers + contact history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43000"/>
            <a:ext cx="54864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43000"/>
            <a:ext cx="5486400" cy="45720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252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Portal Preview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719072"/>
            <a:ext cx="2011680" cy="292608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7190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71907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Email  All Contacts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084831"/>
            <a:ext cx="5120640" cy="594360"/>
          </a:xfrm>
          <a:prstGeom prst="rect">
            <a:avLst/>
          </a:prstGeom>
          <a:solidFill>
            <a:srgbClr val="F4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1396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Inbox — 3 escalations, 12 auto-replied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4320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EB0"/>
                </a:solidFill>
                <a:latin typeface="Calibri"/>
              </a:rPr>
              <a:t>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7432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Hi, is the workshop on for Saturday?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0632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5A73"/>
                </a:solidFill>
                <a:latin typeface="Calibri"/>
              </a:rPr>
              <a:t>→ AI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0632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Hi! Yes, the workshop is confirmed...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832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EB0"/>
                </a:solidFill>
                <a:latin typeface="Calibri"/>
              </a:rPr>
              <a:t>Customer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3832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Can I get a refund if I cancel?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7033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75A73"/>
                </a:solidFill>
                <a:latin typeface="Calibri"/>
              </a:rPr>
              <a:t>→ Escalated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7033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VIP + Refund — routed to operator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160520"/>
            <a:ext cx="5120640" cy="384048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2062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PDPA Audit  |  12 actions today  |  0 PII leaks  |  All logs immutable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617720"/>
            <a:ext cx="5120640" cy="1463040"/>
          </a:xfrm>
          <a:prstGeom prst="rect">
            <a:avLst/>
          </a:prstGeom>
          <a:solidFill>
            <a:srgbClr val="F4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681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Document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983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47 docs indexed  |  Learning Loop: 234 corrections  |  Avg response: 4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2852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BE5C"/>
                </a:solidFill>
                <a:latin typeface="Calibri"/>
              </a:rPr>
              <a:t>Last AI answer confidence: 91%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AI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E6E"/>
                </a:solidFill>
                <a:latin typeface="Calibri"/>
              </a:rPr>
              <a:t>How a customer message becomes a resolution — in minutes.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21408"/>
            <a:ext cx="54864" cy="4114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6459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Inbound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299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WhatsApp / Email normalized into a single thread.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2" y="1645920"/>
            <a:ext cx="457200" cy="4572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121408"/>
            <a:ext cx="54864" cy="4114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6459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2" y="20299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Intent labeled: Routine / Escalation / VIP. Confidence scored.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3984" y="1645920"/>
            <a:ext cx="457200" cy="4572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2" y="2121408"/>
            <a:ext cx="54864" cy="4114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38344" y="16459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8344" y="20299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RAG queries your Document Hub. Top chunks retrieved with citation.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37376" y="1645920"/>
            <a:ext cx="457200" cy="4572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38544" y="2121408"/>
            <a:ext cx="54864" cy="4114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31736" y="16459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1736" y="20299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LLM generates response from chunks. Marked [DRAFT].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8" y="1645920"/>
            <a:ext cx="457200" cy="4572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16459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31936" y="2121408"/>
            <a:ext cx="54864" cy="4114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25128" y="164592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Send or Hold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5128" y="202996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Routine + High Confidence → auto-send. Anything else → queue.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288036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3264408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Operator edits / approves → feedback logged to Learning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118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611880" cy="5029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3611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84248"/>
            <a:ext cx="54864" cy="2743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92808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Meta WhatsApp Business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54864" cy="2743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23160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Company-owned number (not personal)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44952"/>
            <a:ext cx="54864" cy="2743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53512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Template messages for OOO windows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75304"/>
            <a:ext cx="54864" cy="2743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48386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Session management + SLA tracking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234440"/>
            <a:ext cx="36118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1234440"/>
            <a:ext cx="3611880" cy="5029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1307592"/>
            <a:ext cx="3611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9432" y="1984248"/>
            <a:ext cx="54864" cy="2743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1892808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SendGrid Inbound Parse webhook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9432" y="2514600"/>
            <a:ext cx="54864" cy="2743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4" y="2423160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Forward or BCC address to portal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432" y="3044952"/>
            <a:ext cx="54864" cy="2743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4024" y="2953512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Full thread context preserved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9432" y="3575304"/>
            <a:ext cx="54864" cy="2743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348386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PDPA-compliant subject + body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234440"/>
            <a:ext cx="36118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4464" y="1234440"/>
            <a:ext cx="3611880" cy="5029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1307592"/>
            <a:ext cx="3611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API / Web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67344" y="1984248"/>
            <a:ext cx="54864" cy="2743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1892808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REST API for custom integrations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7344" y="2514600"/>
            <a:ext cx="54864" cy="2743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2423160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Webhook outbound to CRMs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7344" y="3044952"/>
            <a:ext cx="54864" cy="2743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31936" y="2953512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Zapier / Make.com connectors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67344" y="3575304"/>
            <a:ext cx="54864" cy="2743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348386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Enterprise SSO + SCIM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5A73"/>
                </a:solidFill>
                <a:latin typeface="Calibri"/>
              </a:rPr>
              <a:t>Sequor is not a better version of existing tools. It's a new category: the company's communication coverage layer.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60604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93392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991AA"/>
                </a:solidFill>
                <a:latin typeface="Calibri"/>
              </a:rPr>
              <a:t>OpenClaw
Personal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249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Personal WhatsApp automation.
No company accounts, no email,
no routing, no compliance.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182880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828800"/>
            <a:ext cx="2606040" cy="73152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993392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58F"/>
                </a:solidFill>
                <a:latin typeface="Calibri"/>
              </a:rPr>
              <a:t>Superhuman / SaneBox
AI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7249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Reply faster when present.
No coverage when absent.
No WhatsApp or routing.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82880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828800"/>
            <a:ext cx="2606040" cy="73152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993392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758F"/>
                </a:solidFill>
                <a:latin typeface="Calibri"/>
              </a:rPr>
              <a:t>Zendesk / Intercom
Enterprise Platforms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7249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Manual routing, no autonomous
resolution. Days to configure.
Not built for SE Asia SMBs.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264" y="1828800"/>
            <a:ext cx="26060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0264" y="1828800"/>
            <a:ext cx="2606040" cy="73152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993392"/>
            <a:ext cx="2331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Tidio / Freshdesk
Shared Inbox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724912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5E6E"/>
                </a:solidFill>
                <a:latin typeface="Calibri"/>
              </a:rPr>
              <a:t>Basic AI assist.
No RAG, no learning loop,
no PDPA compliance.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77639"/>
            <a:ext cx="11064240" cy="2286000"/>
          </a:xfrm>
          <a:prstGeom prst="rect">
            <a:avLst/>
          </a:prstGeom>
          <a:solidFill>
            <a:srgbClr val="EBF6FA"/>
          </a:solidFill>
          <a:ln w="19050">
            <a:solidFill>
              <a:srgbClr val="29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77639"/>
            <a:ext cx="109728" cy="22860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799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475D"/>
                </a:solidFill>
                <a:latin typeface="Calibri"/>
              </a:rPr>
              <a:t>Sequor's Structural Differentiation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719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Company-owned WhatsApp accounts: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57199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Enterprise-grade, auditable, not tied to personal phone numbers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377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Email-first unified interface: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93775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WhatsApp + email in one thread — no tool switching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303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Learning loop that compounds: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30351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Every correction improves future responses — competitors can't shortcut this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692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Smart escalations with PII redaction: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566927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Context delivered, PII protected, SLA tracked end-to-end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35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PDPA compliance built in: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6035039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Audit trail, erasure, consent — not add-ons you pay extra for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Smart Escalations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475D"/>
                </a:solidFill>
                <a:latin typeface="Calibri"/>
              </a:rPr>
              <a:t>What triggers an escalation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73152" cy="347472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19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475D"/>
                </a:solidFill>
                <a:latin typeface="Calibri"/>
              </a:rPr>
              <a:t>Cancellation / Refund Threats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848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High-friction intent. Confidence &gt; 0.8 → immediate route.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42032"/>
            <a:ext cx="73152" cy="347472"/>
          </a:xfrm>
          <a:prstGeom prst="rect">
            <a:avLst/>
          </a:prstGeom>
          <a:solidFill>
            <a:srgbClr val="E8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475D"/>
                </a:solidFill>
                <a:latin typeface="Calibri"/>
              </a:rPr>
              <a:t>VIP / Priority Contacts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16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Tiered routing — top contacts get priority queue.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73552"/>
            <a:ext cx="73152" cy="347472"/>
          </a:xfrm>
          <a:prstGeom prst="rect">
            <a:avLst/>
          </a:prstGeom>
          <a:solidFill>
            <a:srgbClr val="E8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1821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475D"/>
                </a:solidFill>
                <a:latin typeface="Calibri"/>
              </a:rPr>
              <a:t>SLA Breach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547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Auto-escalate past your configured SLA window.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05072"/>
            <a:ext cx="73152" cy="347472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136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475D"/>
                </a:solidFill>
                <a:latin typeface="Calibri"/>
              </a:rPr>
              <a:t>Negative Sentiment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793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Frustration or anger detected → route regardless of topic.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36592"/>
            <a:ext cx="73152" cy="347472"/>
          </a:xfrm>
          <a:prstGeom prst="rect">
            <a:avLst/>
          </a:prstGeom>
          <a:solidFill>
            <a:srgbClr val="E0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6451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475D"/>
                </a:solidFill>
                <a:latin typeface="Calibri"/>
              </a:rPr>
              <a:t>Repeat Queries 3x+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10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Same unanswered topic → escalate to human.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468112"/>
            <a:ext cx="73152" cy="34747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3766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475D"/>
                </a:solidFill>
                <a:latin typeface="Calibri"/>
              </a:rPr>
              <a:t>Manual Flag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7424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Any thread, one click. Operator flags what the AI missed.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143000"/>
            <a:ext cx="548640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1143000"/>
            <a:ext cx="5486400" cy="5029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Resolution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828800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8288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18470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Alert Created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15798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Full context captured. SLA countdown started.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331720"/>
            <a:ext cx="45720" cy="1828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633472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63347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26517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Assigned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29626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Auto-assigned by routing rules + contact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136392"/>
            <a:ext cx="45720" cy="1828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9360" y="3438144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43814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45643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Context Delivered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76732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Thread + RAG excerpts shown in portal. PII redacted.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941064"/>
            <a:ext cx="45720" cy="1828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4242816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24281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42611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Operator Resolves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57200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Outcome logged. AI learns from the resolution.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4745736"/>
            <a:ext cx="45720" cy="18288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5047488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504748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506577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75A73"/>
                </a:solidFill>
                <a:latin typeface="Calibri"/>
              </a:rPr>
              <a:t>SLA Closed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537667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Resolution time stored. Audit trail immutable.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PDPA Compliance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566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17320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538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Data Minimization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11680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Only operationally necessary data stored. Historical archives pseudonymized.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234440"/>
            <a:ext cx="3566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424" y="1417320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4173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2352" y="14538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Right to Erasure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011680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Full deletion workflow. PII purged from records and audit logs.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234440"/>
            <a:ext cx="3566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6" y="1417320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4173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14538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011680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Every action logged: tenant, timestamp, actor, outcome. Immutable.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49040"/>
            <a:ext cx="3566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931920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319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9684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Tenant Isolation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26280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Role-based access. Operators see only their contacts. No leaks.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3749040"/>
            <a:ext cx="3566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35424" y="3931920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39319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02352" y="39684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Consent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526280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Contact consent flagged by channel and notice version.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93024" y="3749040"/>
            <a:ext cx="3566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57616" y="3931920"/>
            <a:ext cx="438912" cy="43891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393192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396849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PII Classification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526280"/>
            <a:ext cx="323697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Email, phone, name classified. RAG respects boundaries — no PII in training.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EB0"/>
                </a:solidFill>
                <a:latin typeface="Calibri"/>
              </a:rPr>
              <a:t>SOC 2 Type II and ISO 27001 certification in progress — targeting Q3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2651760" cy="5120640"/>
          </a:xfrm>
          <a:prstGeom prst="rect">
            <a:avLst/>
          </a:prstGeom>
          <a:solidFill>
            <a:srgbClr val="D4EAF4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4475D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38528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4475D"/>
                </a:solidFill>
                <a:latin typeface="Calibri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6896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4475D"/>
                </a:solidFill>
                <a:latin typeface="Calibri"/>
              </a:rPr>
              <a:t>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952" y="2962656"/>
            <a:ext cx="2139696" cy="635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3127248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50 messages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11296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WhatsApp +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895344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Auto-reply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279392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RAG Document 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663440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1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5848" y="1188720"/>
            <a:ext cx="2651760" cy="5120640"/>
          </a:xfrm>
          <a:prstGeom prst="rect">
            <a:avLst/>
          </a:prstGeom>
          <a:solidFill>
            <a:srgbClr val="AAD5E8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38988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4475D"/>
                </a:solidFill>
                <a:latin typeface="Calibri"/>
              </a:rPr>
              <a:t>Solo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8" y="1938528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14475D"/>
                </a:solidFill>
                <a:latin typeface="Calibri"/>
              </a:rPr>
              <a:t>$15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5848" y="2596896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4475D"/>
                </a:solidFill>
                <a:latin typeface="Calibri"/>
              </a:rPr>
              <a:t>/month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2962656"/>
            <a:ext cx="2139696" cy="635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016" y="3127248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200 messages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016" y="3511296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Auto-reply +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3895344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30-day message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4279392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475D"/>
                </a:solidFill>
                <a:latin typeface="Calibri"/>
              </a:rPr>
              <a:t>  1 operator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8776" y="1188720"/>
            <a:ext cx="2651760" cy="5120640"/>
          </a:xfrm>
          <a:prstGeom prst="rect">
            <a:avLst/>
          </a:prstGeom>
          <a:solidFill>
            <a:srgbClr val="2991AA"/>
          </a:solidFill>
          <a:ln w="25400">
            <a:solidFill>
              <a:srgbClr val="29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8776" y="1188720"/>
            <a:ext cx="2651760" cy="384048"/>
          </a:xfrm>
          <a:prstGeom prst="rect">
            <a:avLst/>
          </a:prstGeom>
          <a:solidFill>
            <a:srgbClr val="54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1261872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Most Popular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166420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2212848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8776" y="2871216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/month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64808" y="3236976"/>
            <a:ext cx="2139696" cy="6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3401568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Unlimited messages*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785616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Smart Escalations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169664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PDPA 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4553712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Up to 3 operators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9944" y="4937760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Priority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61704" y="1188720"/>
            <a:ext cx="2651760" cy="5120640"/>
          </a:xfrm>
          <a:prstGeom prst="rect">
            <a:avLst/>
          </a:prstGeom>
          <a:solidFill>
            <a:srgbClr val="175A73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1704" y="138988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61704" y="1938528"/>
            <a:ext cx="26517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$55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61704" y="2596896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/month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17736" y="2962656"/>
            <a:ext cx="2139696" cy="635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2872" y="3127248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Unlimited everything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3511296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Advanced 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3895344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Custom key phrase maps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4279392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PDPA compliance report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62872" y="4663440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Dedicated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EB0"/>
                </a:solidFill>
                <a:latin typeface="Calibri"/>
              </a:rPr>
              <a:t>* Message fair-use limits at 3x plan average. Enterprise pricing on request.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02920" cy="82296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71016"/>
            <a:ext cx="502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344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Connect WhatsApp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1848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Meta Business Manager → WhatsApp Business API → paste token. ~3 min.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02920" cy="82296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31136"/>
            <a:ext cx="502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19456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Connect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786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SendGrid Inbound Parse → point webhook at Sequor → add API key. ~5 min.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502920" cy="82296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91256"/>
            <a:ext cx="502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1546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Upload Documents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53872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Drop PDFs, FAQs, policies into Document Hub. RAG indexes automatically. ~5 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502920" cy="82296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51376"/>
            <a:ext cx="502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148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Configure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988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Key phrases → reply strategies → SLA window + escalation contacts. ~10 min.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74920"/>
            <a:ext cx="502920" cy="82296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111496"/>
            <a:ext cx="502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749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475D"/>
                </a:solidFill>
                <a:latin typeface="Calibri"/>
              </a:rPr>
              <a:t>Go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58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Flip channel to Active. First AI reply fires within the hour.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234440"/>
            <a:ext cx="544068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234440"/>
            <a:ext cx="5440680" cy="5029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3167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Document Quality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947671"/>
            <a:ext cx="73152" cy="34747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187451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Best: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187451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FAQs, policy docs, price lists, service descriptions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450591"/>
            <a:ext cx="73152" cy="34747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237743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Good: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37743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WhatsApp chat exports, organized email threads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953511"/>
            <a:ext cx="73152" cy="347472"/>
          </a:xfrm>
          <a:prstGeom prst="rect">
            <a:avLst/>
          </a:prstGeom>
          <a:solidFill>
            <a:srgbClr val="E8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288035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5A73"/>
                </a:solidFill>
                <a:latin typeface="Calibri"/>
              </a:rPr>
              <a:t>Difficult: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5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Verbal knowledge, informal notes, inconsistent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566159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EB0"/>
                </a:solidFill>
                <a:latin typeface="Calibri"/>
              </a:rPr>
              <a:t>Start with 5–10 core documents.
Add more as you see what the AI answers well.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E6E"/>
                </a:solidFill>
                <a:latin typeface="Calibri"/>
              </a:rPr>
              <a:t>Let's walk through the platform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11064240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47671"/>
            <a:ext cx="73152" cy="384048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19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WhatsApp + Email unified inbox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7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Both channels in a single thread — no switching between tabs.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43783"/>
            <a:ext cx="73152" cy="384048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70631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Auto-reply from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54679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Send an email → AI drafts a response from your documents → approve or edit in one tap.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39895"/>
            <a:ext cx="73152" cy="384048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66743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Smart escalation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50791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Flag a thread → assigned with full context → resolution logged. AI learns from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36007"/>
            <a:ext cx="73152" cy="384048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62855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PDPA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46903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Every action timestamped, tenant-scoped, immutable. Exportable on demand.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532119"/>
            <a:ext cx="73152" cy="384048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458967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Learning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43015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Edit an AI draft → your correction is logged → next time it does better.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99846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758F"/>
                </a:solidFill>
                <a:latin typeface="Calibri"/>
              </a:rPr>
              <a:t>🌐  https://badland-swizzle-childlike.ngrok-free.dev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1188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611880" cy="54864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Q2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39112"/>
            <a:ext cx="54864" cy="2743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Portal v1 — WhatsApp + 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87752"/>
            <a:ext cx="54864" cy="2743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49631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SendGrid + ngrok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36392"/>
            <a:ext cx="54864" cy="2743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04495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Learning Loop beta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85032"/>
            <a:ext cx="54864" cy="27432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59359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First lighthouse customers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1234440"/>
            <a:ext cx="361188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16552" y="1234440"/>
            <a:ext cx="3611880" cy="54864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132588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Q3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9432" y="2039112"/>
            <a:ext cx="54864" cy="2743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194767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SOC 2 Type II certification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9432" y="2587752"/>
            <a:ext cx="54864" cy="2743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4" y="249631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API v1 + webhook outbound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432" y="3136392"/>
            <a:ext cx="54864" cy="2743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4024" y="304495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Mobile-responsive portal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9432" y="3685032"/>
            <a:ext cx="54864" cy="274320"/>
          </a:xfrm>
          <a:prstGeom prst="rect">
            <a:avLst/>
          </a:prstGeom>
          <a:solidFill>
            <a:srgbClr val="1E75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359359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Zapier / Make connector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234440"/>
            <a:ext cx="361188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4464" y="1234440"/>
            <a:ext cx="3611880" cy="54864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84464" y="132588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Q4 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67344" y="2039112"/>
            <a:ext cx="54864" cy="2743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194767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Multi-tenant dashboards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67344" y="2587752"/>
            <a:ext cx="54864" cy="2743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249631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Custom key phrase maps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7344" y="3136392"/>
            <a:ext cx="54864" cy="2743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31936" y="304495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Enterprise tier launch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67344" y="3685032"/>
            <a:ext cx="54864" cy="274320"/>
          </a:xfrm>
          <a:prstGeom prst="rect">
            <a:avLst/>
          </a:prstGeom>
          <a:solidFill>
            <a:srgbClr val="17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31936" y="3593592"/>
            <a:ext cx="3099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E6E"/>
                </a:solidFill>
                <a:latin typeface="Calibri"/>
              </a:rPr>
              <a:t>Thailand + Vietnam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Sequor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611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61188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New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89280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Not a better version of existing tools. The first platform built for company-wide communication coverage.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30168"/>
            <a:ext cx="3611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30168"/>
            <a:ext cx="361188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813048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Compounding Moat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288536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Every routing decision, every correction, feeds the learning loop. Gets harder to compete with over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1234440"/>
            <a:ext cx="3611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234440"/>
            <a:ext cx="361188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417320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Built for SE Asia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189280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WhatsApp Business is the dominant channel. PDPA compliance from day one. Pricing for SMBs.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16552" y="3630168"/>
            <a:ext cx="3611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3630168"/>
            <a:ext cx="361188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813048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Compliance as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4288536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PDPA audit trail, erasure, consent, tenant isolation — not add-ons you pay for. Every tier.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84464" y="1234440"/>
            <a:ext cx="3611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84464" y="1234440"/>
            <a:ext cx="361188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9056" y="1417320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Setup in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1892808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No engineering required. Connect WhatsApp, point email webhook, upload docs. Live same day.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84464" y="3630168"/>
            <a:ext cx="36118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84464" y="3630168"/>
            <a:ext cx="3611880" cy="73152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6" y="3813048"/>
            <a:ext cx="3282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Institutional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4288536"/>
            <a:ext cx="328269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E6E"/>
                </a:solidFill>
                <a:latin typeface="Calibri"/>
              </a:rPr>
              <a:t>Sequor becomes the system of record for every coverage decision — auditable, searchable.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99032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91AA"/>
                </a:solidFill>
                <a:latin typeface="Calibri"/>
              </a:rPr>
              <a:t>$2.4B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2697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5A73"/>
                </a:solidFill>
                <a:latin typeface="Calibri"/>
              </a:rPr>
              <a:t>TAM — SE Asia SMB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79192"/>
            <a:ext cx="2368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E6E"/>
                </a:solidFill>
                <a:latin typeface="Calibri"/>
              </a:rPr>
              <a:t>Professional services in Singapore, Thailand,
Vietnam, Malaysia — 5M+ businesses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123444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399032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91AA"/>
                </a:solidFill>
                <a:latin typeface="Calibri"/>
              </a:rPr>
              <a:t>12–18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240280"/>
            <a:ext cx="2697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5A73"/>
                </a:solidFill>
                <a:latin typeface="Calibri"/>
              </a:rPr>
              <a:t>Weekly Coverage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79192"/>
            <a:ext cx="2368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E6E"/>
                </a:solidFill>
                <a:latin typeface="Calibri"/>
              </a:rPr>
              <a:t>Per team of 3–5. Time spent routing, following up,
and managing what AI should handle.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123444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399032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91AA"/>
                </a:solidFill>
                <a:latin typeface="Calibri"/>
              </a:rPr>
              <a:t>$40–60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240280"/>
            <a:ext cx="2697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5A73"/>
                </a:solidFill>
                <a:latin typeface="Calibri"/>
              </a:rPr>
              <a:t>Per Seat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79192"/>
            <a:ext cx="2368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E6E"/>
                </a:solidFill>
                <a:latin typeface="Calibri"/>
              </a:rPr>
              <a:t>Professional services teams of 3–10 seats.
$120–1,000/month ACV. 3–5x productivity ROI.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1234440"/>
            <a:ext cx="26974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399032"/>
            <a:ext cx="2697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991AA"/>
                </a:solidFill>
                <a:latin typeface="Calibri"/>
              </a:rPr>
              <a:t>8.5/10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240280"/>
            <a:ext cx="2697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5A73"/>
                </a:solidFill>
                <a:latin typeface="Calibri"/>
              </a:rPr>
              <a:t>Product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679192"/>
            <a:ext cx="23682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5E6E"/>
                </a:solidFill>
                <a:latin typeface="Calibri"/>
              </a:rPr>
              <a:t>Problem urgency (9), moat (8), GTM clarity (9),
regulatory (8), unit economics (8)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49039"/>
            <a:ext cx="11064240" cy="2514600"/>
          </a:xfrm>
          <a:prstGeom prst="rect">
            <a:avLst/>
          </a:prstGeom>
          <a:solidFill>
            <a:srgbClr val="F4FBFD"/>
          </a:solidFill>
          <a:ln w="9525">
            <a:solidFill>
              <a:srgbClr val="D4E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587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4475D"/>
                </a:solidFill>
                <a:latin typeface="Calibri"/>
              </a:rPr>
              <a:t>Investment Summary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370832"/>
            <a:ext cx="10424160" cy="1270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262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Raise: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52628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E"/>
                </a:solidFill>
                <a:latin typeface="Calibri"/>
              </a:rPr>
              <a:t>$1.5M Seed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017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Use of Funds: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00176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E"/>
                </a:solidFill>
                <a:latin typeface="Calibri"/>
              </a:rPr>
              <a:t>Team (40%)  |  Infrastructure (30%)  |  GTM (20%)  |  Compliance (10%)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772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Milestone: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47725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E"/>
                </a:solidFill>
                <a:latin typeface="Calibri"/>
              </a:rPr>
              <a:t>20 paying customers + $50K MRR in 12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527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5A73"/>
                </a:solidFill>
                <a:latin typeface="Calibri"/>
              </a:rPr>
              <a:t>Runway: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95274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E6E"/>
                </a:solidFill>
                <a:latin typeface="Calibri"/>
              </a:rPr>
              <a:t>18 months to Series A 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914400" cy="914400"/>
          </a:xfrm>
          <a:prstGeom prst="rect">
            <a:avLst/>
          </a:prstGeom>
          <a:solidFill>
            <a:srgbClr val="299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8132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4475D"/>
                </a:solidFill>
                <a:latin typeface="Calibri"/>
              </a:rPr>
              <a:t>Sequor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5029200" cy="1270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4475D"/>
                </a:solidFill>
                <a:latin typeface="Calibri"/>
              </a:rPr>
              <a:t>Thank you
for your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5E6E"/>
                </a:solidFill>
                <a:latin typeface="Calibri"/>
              </a:rPr>
              <a:t>We look forward to building
the future of customer communication.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EB0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097280"/>
            <a:ext cx="3200400" cy="3200400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0" y="1371600"/>
            <a:ext cx="2651760" cy="265176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26517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175A73"/>
                </a:solidFill>
                <a:latin typeface="Calibri"/>
              </a:rPr>
              <a:t>AI Coverage
for Business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4663440"/>
            <a:ext cx="2926080" cy="12700"/>
          </a:xfrm>
          <a:prstGeom prst="rect">
            <a:avLst/>
          </a:prstGeom>
          <a:solidFill>
            <a:srgbClr val="AA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80060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8A9EB0"/>
                </a:solidFill>
                <a:latin typeface="Calibri"/>
              </a:rPr>
              <a:t>www.sequor.io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184648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8A9EB0"/>
                </a:solidFill>
                <a:latin typeface="Calibri"/>
              </a:rPr>
              <a:t>hello@sequor.io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5568696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8A9EB0"/>
                </a:solidFill>
                <a:latin typeface="Calibri"/>
              </a:rPr>
              <a:t>Singapore  |  Thailand  |  Vietnam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12700"/>
          </a:xfrm>
          <a:prstGeom prst="rect">
            <a:avLst/>
          </a:prstGeom>
          <a:solidFill>
            <a:srgbClr val="D4E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EB0"/>
                </a:solidFill>
                <a:latin typeface="Calibri"/>
              </a:rPr>
              <a:t>Sequor Pte. Ltd.  |  Confidential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